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2dcfc3f8e944eb" /><Relationship Type="http://schemas.openxmlformats.org/officeDocument/2006/relationships/extended-properties" Target="/docProps/app.xml" Id="Rb5b42a73d2b249bf" /><Relationship Type="http://schemas.openxmlformats.org/officeDocument/2006/relationships/officeDocument" Target="/ppt/presentation.xml" Id="Rba21a0ba778d4a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fb9624178a4e5a"/>
  </p:sldMasterIdLst>
  <p:notesMasterIdLst>
    <p:notesMasterId xmlns:r="http://schemas.openxmlformats.org/officeDocument/2006/relationships" r:id="R692b06ecddfd4cc9"/>
  </p:notesMasterIdLst>
  <p:sldIdLst>
    <p:sldId xmlns:r="http://schemas.openxmlformats.org/officeDocument/2006/relationships" id="256" r:id="Rac123e6a91584d70"/>
    <p:sldId xmlns:r="http://schemas.openxmlformats.org/officeDocument/2006/relationships" id="257" r:id="R02ea66ced76448be"/>
    <p:sldId xmlns:r="http://schemas.openxmlformats.org/officeDocument/2006/relationships" id="258" r:id="Reb84c6e973b6421e"/>
    <p:sldId xmlns:r="http://schemas.openxmlformats.org/officeDocument/2006/relationships" id="259" r:id="R28c07ed07092474c"/>
    <p:sldId xmlns:r="http://schemas.openxmlformats.org/officeDocument/2006/relationships" id="260" r:id="R5bc6d0caf4e346c1"/>
    <p:sldId xmlns:r="http://schemas.openxmlformats.org/officeDocument/2006/relationships" id="261" r:id="Rc717bc96f8344ff7"/>
    <p:sldId xmlns:r="http://schemas.openxmlformats.org/officeDocument/2006/relationships" id="262" r:id="Rc124a73635cd4d0b"/>
    <p:sldId xmlns:r="http://schemas.openxmlformats.org/officeDocument/2006/relationships" id="263" r:id="R06804c5c382846e1"/>
    <p:sldId xmlns:r="http://schemas.openxmlformats.org/officeDocument/2006/relationships" id="264" r:id="Re4a14b665c50496f"/>
    <p:sldId xmlns:r="http://schemas.openxmlformats.org/officeDocument/2006/relationships" id="265" r:id="R861bd064a07f481a"/>
    <p:sldId xmlns:r="http://schemas.openxmlformats.org/officeDocument/2006/relationships" id="266" r:id="R2d811a36d95842c9"/>
    <p:sldId xmlns:r="http://schemas.openxmlformats.org/officeDocument/2006/relationships" id="267" r:id="Rc9d4bd5c83134706"/>
    <p:sldId xmlns:r="http://schemas.openxmlformats.org/officeDocument/2006/relationships" id="268" r:id="R1ded62ccd46b4664"/>
    <p:sldId xmlns:r="http://schemas.openxmlformats.org/officeDocument/2006/relationships" id="269" r:id="R771ffb21af954314"/>
    <p:sldId xmlns:r="http://schemas.openxmlformats.org/officeDocument/2006/relationships" id="270" r:id="R6d2709328a3d41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efb2ef7b2b42f3" /><Relationship Type="http://schemas.openxmlformats.org/officeDocument/2006/relationships/slideMaster" Target="/ppt/slideMasters/slideMaster1.xml" Id="R58fb9624178a4e5a" /><Relationship Type="http://schemas.openxmlformats.org/officeDocument/2006/relationships/notesMaster" Target="/ppt/notesMasters/notesMaster1.xml" Id="R692b06ecddfd4cc9" /><Relationship Type="http://schemas.openxmlformats.org/officeDocument/2006/relationships/presProps" Target="/ppt/presProps.xml" Id="R83ea3e7c2aa042d5" /><Relationship Type="http://schemas.openxmlformats.org/officeDocument/2006/relationships/tableStyles" Target="/ppt/tableStyles.xml" Id="R72156b36057d4345" /><Relationship Type="http://schemas.openxmlformats.org/officeDocument/2006/relationships/slide" Target="/ppt/slides/slide1.xml" Id="Rac123e6a91584d70" /><Relationship Type="http://schemas.openxmlformats.org/officeDocument/2006/relationships/slide" Target="/ppt/slides/slide2.xml" Id="R02ea66ced76448be" /><Relationship Type="http://schemas.openxmlformats.org/officeDocument/2006/relationships/slide" Target="/ppt/slides/slide3.xml" Id="Reb84c6e973b6421e" /><Relationship Type="http://schemas.openxmlformats.org/officeDocument/2006/relationships/slide" Target="/ppt/slides/slide4.xml" Id="R28c07ed07092474c" /><Relationship Type="http://schemas.openxmlformats.org/officeDocument/2006/relationships/slide" Target="/ppt/slides/slide5.xml" Id="R5bc6d0caf4e346c1" /><Relationship Type="http://schemas.openxmlformats.org/officeDocument/2006/relationships/slide" Target="/ppt/slides/slide6.xml" Id="Rc717bc96f8344ff7" /><Relationship Type="http://schemas.openxmlformats.org/officeDocument/2006/relationships/slide" Target="/ppt/slides/slide7.xml" Id="Rc124a73635cd4d0b" /><Relationship Type="http://schemas.openxmlformats.org/officeDocument/2006/relationships/slide" Target="/ppt/slides/slide8.xml" Id="R06804c5c382846e1" /><Relationship Type="http://schemas.openxmlformats.org/officeDocument/2006/relationships/slide" Target="/ppt/slides/slide9.xml" Id="Re4a14b665c50496f" /><Relationship Type="http://schemas.openxmlformats.org/officeDocument/2006/relationships/slide" Target="/ppt/slides/slide10.xml" Id="R861bd064a07f481a" /><Relationship Type="http://schemas.openxmlformats.org/officeDocument/2006/relationships/slide" Target="/ppt/slides/slide11.xml" Id="R2d811a36d95842c9" /><Relationship Type="http://schemas.openxmlformats.org/officeDocument/2006/relationships/slide" Target="/ppt/slides/slide12.xml" Id="Rc9d4bd5c83134706" /><Relationship Type="http://schemas.openxmlformats.org/officeDocument/2006/relationships/slide" Target="/ppt/slides/slide13.xml" Id="R1ded62ccd46b4664" /><Relationship Type="http://schemas.openxmlformats.org/officeDocument/2006/relationships/slide" Target="/ppt/slides/slide14.xml" Id="R771ffb21af954314" /><Relationship Type="http://schemas.openxmlformats.org/officeDocument/2006/relationships/slide" Target="/ppt/slides/slide15.xml" Id="R6d2709328a3d41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1967e971894d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353ab7e04840e9" /><Relationship Type="http://schemas.openxmlformats.org/officeDocument/2006/relationships/notesMaster" Target="/ppt/notesMasters/notesMaster1.xml" Id="R6ff0d647508d41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d70234fa0a4f1a" /><Relationship Type="http://schemas.openxmlformats.org/officeDocument/2006/relationships/notesMaster" Target="/ppt/notesMasters/notesMaster1.xml" Id="R512b97ae45384b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ef685307474cd4" /><Relationship Type="http://schemas.openxmlformats.org/officeDocument/2006/relationships/notesMaster" Target="/ppt/notesMasters/notesMaster1.xml" Id="Rf901344f753f49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4f6d21f5a64e4b" /><Relationship Type="http://schemas.openxmlformats.org/officeDocument/2006/relationships/notesMaster" Target="/ppt/notesMasters/notesMaster1.xml" Id="R8bc2639af98544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9e58caf7334a7a" /><Relationship Type="http://schemas.openxmlformats.org/officeDocument/2006/relationships/notesMaster" Target="/ppt/notesMasters/notesMaster1.xml" Id="Re9cb91e5b08d4c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e5514615c04f40" /><Relationship Type="http://schemas.openxmlformats.org/officeDocument/2006/relationships/notesMaster" Target="/ppt/notesMasters/notesMaster1.xml" Id="R32676f231fea48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e0fc37e54041d3" /><Relationship Type="http://schemas.openxmlformats.org/officeDocument/2006/relationships/notesMaster" Target="/ppt/notesMasters/notesMaster1.xml" Id="R957f6ef47fe847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a773157f2c485c" /><Relationship Type="http://schemas.openxmlformats.org/officeDocument/2006/relationships/notesMaster" Target="/ppt/notesMasters/notesMaster1.xml" Id="R4257c217942d4a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9aace292ad4491" /><Relationship Type="http://schemas.openxmlformats.org/officeDocument/2006/relationships/notesMaster" Target="/ppt/notesMasters/notesMaster1.xml" Id="R876134e7f8b64e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3023c4ff654f33" /><Relationship Type="http://schemas.openxmlformats.org/officeDocument/2006/relationships/notesMaster" Target="/ppt/notesMasters/notesMaster1.xml" Id="Rb2f7b18e43e847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44902655ea4523" /><Relationship Type="http://schemas.openxmlformats.org/officeDocument/2006/relationships/notesMaster" Target="/ppt/notesMasters/notesMaster1.xml" Id="R645999fa2ed642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839740d63441de" /><Relationship Type="http://schemas.openxmlformats.org/officeDocument/2006/relationships/notesMaster" Target="/ppt/notesMasters/notesMaster1.xml" Id="R0fb325b463f944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a04862b1364a75" /><Relationship Type="http://schemas.openxmlformats.org/officeDocument/2006/relationships/notesMaster" Target="/ppt/notesMasters/notesMaster1.xml" Id="R0b3853763d1942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fa3901edcb4d9c" /><Relationship Type="http://schemas.openxmlformats.org/officeDocument/2006/relationships/notesMaster" Target="/ppt/notesMasters/notesMaster1.xml" Id="R3313d65ba76e47b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7dffec663440bc" /><Relationship Type="http://schemas.openxmlformats.org/officeDocument/2006/relationships/notesMaster" Target="/ppt/notesMasters/notesMaster1.xml" Id="R52150121fa7e4c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c0046bd8e49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d2903fccd54c8b" /><Relationship Type="http://schemas.openxmlformats.org/officeDocument/2006/relationships/slideLayout" Target="/ppt/slideLayouts/slideLayout1.xml" Id="R3ca254475e1142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a254475e1142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d6a259e90415c" /><Relationship Type="http://schemas.openxmlformats.org/officeDocument/2006/relationships/notesSlide" Target="/ppt/notesSlides/notesSlide1.xml" Id="R6599586e995740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cb8816a824546" /><Relationship Type="http://schemas.openxmlformats.org/officeDocument/2006/relationships/notesSlide" Target="/ppt/notesSlides/notesSlide2.xml" Id="R5ade78d6e07940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12a1af3db49c2" /><Relationship Type="http://schemas.openxmlformats.org/officeDocument/2006/relationships/notesSlide" Target="/ppt/notesSlides/notesSlide3.xml" Id="R27ac20b2b8004c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16946f78f4c44" /><Relationship Type="http://schemas.openxmlformats.org/officeDocument/2006/relationships/notesSlide" Target="/ppt/notesSlides/notesSlide4.xml" Id="R2e0df397fd3b45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dba7dc04449e2" /><Relationship Type="http://schemas.openxmlformats.org/officeDocument/2006/relationships/notesSlide" Target="/ppt/notesSlides/notesSlide5.xml" Id="R2cc575d1980c44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2e7df4fd94ea1" /><Relationship Type="http://schemas.openxmlformats.org/officeDocument/2006/relationships/notesSlide" Target="/ppt/notesSlides/notesSlide6.xml" Id="Ra8d73e273c1f4f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8cd219d7e4341" /><Relationship Type="http://schemas.openxmlformats.org/officeDocument/2006/relationships/notesSlide" Target="/ppt/notesSlides/notesSlide7.xml" Id="R85dd17ec7f8f44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f2b2528e64d4d" /><Relationship Type="http://schemas.openxmlformats.org/officeDocument/2006/relationships/notesSlide" Target="/ppt/notesSlides/notesSlide8.xml" Id="Raa26161be9c74a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6ecee019c4fe8" /><Relationship Type="http://schemas.openxmlformats.org/officeDocument/2006/relationships/notesSlide" Target="/ppt/notesSlides/notesSlide9.xml" Id="Rdef440f6d96049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cd9d395db45cd" /><Relationship Type="http://schemas.openxmlformats.org/officeDocument/2006/relationships/notesSlide" Target="/ppt/notesSlides/notesSlide10.xml" Id="R2904917aab5b48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e355ca65e4ca1" /><Relationship Type="http://schemas.openxmlformats.org/officeDocument/2006/relationships/notesSlide" Target="/ppt/notesSlides/notesSlide11.xml" Id="R896f5fa8e3834f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d1d03db4f4cc6" /><Relationship Type="http://schemas.openxmlformats.org/officeDocument/2006/relationships/notesSlide" Target="/ppt/notesSlides/notesSlide12.xml" Id="R9f1610e36f1440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fe7b87ae645a0" /><Relationship Type="http://schemas.openxmlformats.org/officeDocument/2006/relationships/notesSlide" Target="/ppt/notesSlides/notesSlide13.xml" Id="Rf5f303ea03d746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3ac3e5f6a4b8d" /><Relationship Type="http://schemas.openxmlformats.org/officeDocument/2006/relationships/notesSlide" Target="/ppt/notesSlides/notesSlide14.xml" Id="R4f5fae0a74cc48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c342d12334916" /><Relationship Type="http://schemas.openxmlformats.org/officeDocument/2006/relationships/notesSlide" Target="/ppt/notesSlides/notesSlide15.xml" Id="R4f85b551f9fa45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B7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22342-1740-4A57-8CD2-A1F410EE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8D48E-2031-4F2C-A08D-538CC7AC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D53C"/>
                </a:solidFill>
              </a:defRPr>
            </a:pPr>
            <a:r>
              <a:rPr sz="1050" b="1">
                <a:solidFill>
                  <a:srgbClr val="F2D53C"/>
                </a:solidFill>
              </a:rPr>
              <a:t>DIPLOMA PROJECT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DD9B2-54F6-40DC-B14B-B5C37DF7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04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Student Academic Performance &amp;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Progress Tracker (SAPPT)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B519F-7594-4CDD-9DAE-7D1597B7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CE8FB"/>
                </a:solidFill>
              </a:defRPr>
            </a:pPr>
            <a:r>
              <a:rPr sz="1800" b="0">
                <a:solidFill>
                  <a:srgbClr val="DCE8FB"/>
                </a:solidFill>
              </a:rPr>
              <a:t>A web-based application for academic monitoring and improvement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8BE1A-7B73-437B-BA08-8A4DC008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7907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5A019-F909-44EF-B43B-17153AFD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Track performance. Identify weaknesses. Improve results.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9D8DA-DB3A-4241-B54F-B5E8F375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8FB"/>
                </a:solidFill>
              </a:defRPr>
            </a:pPr>
            <a:r>
              <a:rPr sz="1350" b="0">
                <a:solidFill>
                  <a:srgbClr val="DCE8FB"/>
                </a:solidFill>
              </a:rPr>
              <a:t>Presented by</a:t>
            </a:r>
          </a:p>
          <a:p xmlns:a="http://schemas.openxmlformats.org/drawingml/2006/main">
            <a:pPr algn="l">
              <a:defRPr sz="1350" b="0">
                <a:solidFill>
                  <a:srgbClr val="DCE8FB"/>
                </a:solidFill>
              </a:defRPr>
            </a:pPr>
            <a:r>
              <a:rPr sz="1350" b="0">
                <a:solidFill>
                  <a:srgbClr val="DCE8FB"/>
                </a:solidFill>
              </a:rPr>
              <a:t>Anuj Arun Deshmukh · Vishal Balande · Vishal Dake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27892-B566-45D6-9648-246BBA32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5816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2D53C"/>
                </a:solidFill>
              </a:defRPr>
            </a:pPr>
            <a:r>
              <a:rPr sz="1650" b="1">
                <a:solidFill>
                  <a:srgbClr val="F2D53C"/>
                </a:solidFill>
              </a:rPr>
              <a:t>SAPPT V1</a:t>
            </a:r>
          </a:p>
        </p:txBody>
      </p:sp>
    </p:spTree>
    <p:extLst>
      <p:ext uri="{BB962C8B-B14F-4D97-AF65-F5344CB8AC3E}">
        <p14:creationId xmlns:p14="http://schemas.microsoft.com/office/powerpoint/2010/main" val="16476629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9D52B7-B021-4346-B68F-AA2C0147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83B70"/>
          </a:solidFill>
          <a:ln xmlns:a="http://schemas.openxmlformats.org/drawingml/2006/main" w="0">
            <a:solidFill>
              <a:srgbClr val="18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6B369-F2AB-4EF9-9174-28119297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39A"/>
                </a:solidFill>
              </a:defRPr>
            </a:pPr>
            <a:r>
              <a:rPr sz="975" b="1">
                <a:solidFill>
                  <a:srgbClr val="24539A"/>
                </a:solidFill>
              </a:rPr>
              <a:t>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40F0F-32A8-45EC-814B-CB7DDDB8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B70"/>
                </a:solidFill>
              </a:defRPr>
            </a:pPr>
            <a:r>
              <a:rPr sz="2550" b="1">
                <a:solidFill>
                  <a:srgbClr val="183B70"/>
                </a:solidFill>
              </a:rPr>
              <a:t>Project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C2DDD-F45B-40BA-8FA5-EF458B2D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11F77-1EA3-4925-B7C2-C86C840E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27A"/>
                </a:solidFill>
              </a:defRPr>
            </a:pPr>
            <a:r>
              <a:rPr sz="900" b="1">
                <a:solidFill>
                  <a:srgbClr val="52627A"/>
                </a:solidFill>
              </a:rPr>
              <a:t>SAPPT ·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AC079-F0BA-4F13-A538-F41A63CF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43A"/>
                </a:solidFill>
              </a:defRPr>
            </a:pPr>
            <a:r>
              <a:rPr sz="1875" b="0">
                <a:solidFill>
                  <a:srgbClr val="17243A"/>
                </a:solidFill>
              </a:rPr>
              <a:t>SAPPT helps students and administrators bring academic information into one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9A31F-DCE9-46E8-BC4A-6E6BB648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147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EEF4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D93DB-F8AA-44FC-939C-2F42B518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70"/>
                </a:solidFill>
              </a:defRPr>
            </a:pPr>
            <a:r>
              <a:rPr sz="1800" b="1">
                <a:solidFill>
                  <a:srgbClr val="183B70"/>
                </a:solidFill>
              </a:rPr>
              <a:t>Academic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BCEEF-86A3-4175-80A9-346EADC2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57525"/>
            <a:ext cx="438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A0CBF-6F69-4ACF-BD3A-F73885BF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A"/>
                </a:solidFill>
              </a:defRPr>
            </a:pPr>
            <a:r>
              <a:rPr sz="1350" b="0">
                <a:solidFill>
                  <a:srgbClr val="52627A"/>
                </a:solidFill>
              </a:rPr>
              <a:t>Students can view and manage their academic records in a structured way.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ACFC6-07AD-4193-A17D-87C6BFBA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76450"/>
            <a:ext cx="33147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EEF4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42A5F-3B9D-4D22-A397-225075E9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70"/>
                </a:solidFill>
              </a:defRPr>
            </a:pPr>
            <a:r>
              <a:rPr sz="1800" b="1">
                <a:solidFill>
                  <a:srgbClr val="183B70"/>
                </a:solidFill>
              </a:rPr>
              <a:t>Performance tracking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8AFFD9-8933-456D-89C1-EA3FAC63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57525"/>
            <a:ext cx="438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EC5428-A75B-498B-9EBA-428D1F1C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A"/>
                </a:solidFill>
              </a:defRPr>
            </a:pPr>
            <a:r>
              <a:rPr sz="1350" b="0">
                <a:solidFill>
                  <a:srgbClr val="52627A"/>
                </a:solidFill>
              </a:rPr>
              <a:t>Subject-wise performance highlights areas that may need attention.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29396-C14A-47A3-8E90-9AEB4939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33147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EEF4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283D52-B7E5-4519-BB3B-A05D5FDB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70"/>
                </a:solidFill>
              </a:defRPr>
            </a:pPr>
            <a:r>
              <a:rPr sz="1800" b="1">
                <a:solidFill>
                  <a:srgbClr val="183B70"/>
                </a:solidFill>
              </a:rPr>
              <a:t>Study planning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2C58DC-A031-477D-BEAB-BCC285E8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57525"/>
            <a:ext cx="438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A24C57-299D-422C-A508-170FFED8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24225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A"/>
                </a:solidFill>
              </a:defRPr>
            </a:pPr>
            <a:r>
              <a:rPr sz="1350" b="0">
                <a:solidFill>
                  <a:srgbClr val="52627A"/>
                </a:solidFill>
              </a:rPr>
              <a:t>Schedules, exam dates and a study timer support day-to-day planning.</a:t>
            </a:r>
          </a:p>
        </p:txBody>
      </p:sp>
    </p:spTree>
    <p:extLst>
      <p:ext uri="{BB962C8B-B14F-4D97-AF65-F5344CB8AC3E}">
        <p14:creationId xmlns:p14="http://schemas.microsoft.com/office/powerpoint/2010/main" val="573931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3EEBD4-CC6B-4112-9A1A-906AD4E7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83B70"/>
          </a:solidFill>
          <a:ln xmlns:a="http://schemas.openxmlformats.org/drawingml/2006/main" w="0">
            <a:solidFill>
              <a:srgbClr val="18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3301E-26C4-40EA-9108-0BEBDB14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39A"/>
                </a:solidFill>
              </a:defRPr>
            </a:pPr>
            <a:r>
              <a:rPr sz="975" b="1">
                <a:solidFill>
                  <a:srgbClr val="24539A"/>
                </a:solidFill>
              </a:rPr>
              <a:t>NEED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6B1A9-F99C-4337-AEB5-2C7F886D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B70"/>
                </a:solidFill>
              </a:defRPr>
            </a:pPr>
            <a:r>
              <a:rPr sz="2550" b="1">
                <a:solidFill>
                  <a:srgbClr val="183B70"/>
                </a:solidFill>
              </a:rPr>
              <a:t>Problem statement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7EF0B-1394-49B4-B032-C8029EAB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CA35E-120E-43C8-BB02-0F5DECC7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27A"/>
                </a:solidFill>
              </a:defRPr>
            </a:pPr>
            <a:r>
              <a:rPr sz="900" b="1">
                <a:solidFill>
                  <a:srgbClr val="52627A"/>
                </a:solidFill>
              </a:rPr>
              <a:t>SAPPT ·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FE059-508F-4145-84A6-1F1CD527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43A"/>
                </a:solidFill>
              </a:defRPr>
            </a:pPr>
            <a:r>
              <a:rPr sz="2025" b="0">
                <a:solidFill>
                  <a:srgbClr val="17243A"/>
                </a:solidFill>
              </a:rPr>
              <a:t>Students often need a simple way to monitor progress, plan study time and keep track of exam-related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A0831-B061-4AC4-8992-BA3B5012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90700"/>
            <a:ext cx="2857500" cy="3143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83B70"/>
          </a:solidFill>
          <a:ln xmlns:a="http://schemas.openxmlformats.org/drawingml/2006/main" w="0">
            <a:solidFill>
              <a:srgbClr val="183B7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97AC0-5470-49D8-AE09-14AB7ECF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907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SAPPT focuses on a practical student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52C44-7E66-4FFF-918B-93B4A24B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2190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CE8FB"/>
                </a:solidFill>
              </a:defRPr>
            </a:pPr>
            <a:r>
              <a:rPr sz="1575" b="1">
                <a:solidFill>
                  <a:srgbClr val="DCE8FB"/>
                </a:solidFill>
              </a:rPr>
              <a:t>Records</a:t>
            </a:r>
          </a:p>
          <a:p xmlns:a="http://schemas.openxmlformats.org/drawingml/2006/main">
            <a:pPr algn="l">
              <a:defRPr sz="1575" b="1">
                <a:solidFill>
                  <a:srgbClr val="DCE8FB"/>
                </a:solidFill>
              </a:defRPr>
            </a:pPr>
            <a:r>
              <a:rPr sz="1575" b="1">
                <a:solidFill>
                  <a:srgbClr val="DCE8FB"/>
                </a:solidFill>
              </a:rPr>
              <a:t>→ Performance</a:t>
            </a:r>
          </a:p>
          <a:p xmlns:a="http://schemas.openxmlformats.org/drawingml/2006/main">
            <a:pPr algn="l">
              <a:defRPr sz="1575" b="1">
                <a:solidFill>
                  <a:srgbClr val="DCE8FB"/>
                </a:solidFill>
              </a:defRPr>
            </a:pPr>
            <a:r>
              <a:rPr sz="1575" b="1">
                <a:solidFill>
                  <a:srgbClr val="DCE8FB"/>
                </a:solidFill>
              </a:rPr>
              <a:t>→ Schedule</a:t>
            </a:r>
          </a:p>
          <a:p xmlns:a="http://schemas.openxmlformats.org/drawingml/2006/main">
            <a:pPr algn="l">
              <a:defRPr sz="1575" b="1">
                <a:solidFill>
                  <a:srgbClr val="DCE8FB"/>
                </a:solidFill>
              </a:defRPr>
            </a:pPr>
            <a:r>
              <a:rPr sz="1575" b="1">
                <a:solidFill>
                  <a:srgbClr val="DCE8FB"/>
                </a:solidFill>
              </a:rPr>
              <a:t>→ Improvement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B04C0-4AF9-46CA-B2E2-4A4C9175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4D1E9-8E0D-450D-AD1D-53275A7C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689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</a:defRPr>
            </a:pPr>
            <a:r>
              <a:rPr sz="1500" b="0">
                <a:solidFill>
                  <a:srgbClr val="17243A"/>
                </a:solidFill>
              </a:rPr>
              <a:t>Academic details may be spread across different records.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2D2A9-A9E7-4A29-B332-FA714CE4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84DC6-92A7-4286-BB49-A1C92C89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689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</a:defRPr>
            </a:pPr>
            <a:r>
              <a:rPr sz="1500" b="0">
                <a:solidFill>
                  <a:srgbClr val="17243A"/>
                </a:solidFill>
              </a:rPr>
              <a:t>Weak subjects may not be noticed early.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92853-838B-4C0D-8C29-9F2773F1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80184-2D34-49A6-9670-E9894079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689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</a:defRPr>
            </a:pPr>
            <a:r>
              <a:rPr sz="1500" b="0">
                <a:solidFill>
                  <a:srgbClr val="17243A"/>
                </a:solidFill>
              </a:rPr>
              <a:t>Exam dates and study planning need a clear view.</a:t>
            </a:r>
          </a:p>
        </p:txBody>
      </p:sp>
    </p:spTree>
    <p:extLst>
      <p:ext uri="{BB962C8B-B14F-4D97-AF65-F5344CB8AC3E}">
        <p14:creationId xmlns:p14="http://schemas.microsoft.com/office/powerpoint/2010/main" val="18401388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8E3639-2F67-48DB-8729-A49C00D2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83B70"/>
          </a:solidFill>
          <a:ln xmlns:a="http://schemas.openxmlformats.org/drawingml/2006/main" w="0">
            <a:solidFill>
              <a:srgbClr val="18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0A4C6-4FF1-420A-9832-7FF96D9F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39A"/>
                </a:solidFill>
              </a:defRPr>
            </a:pPr>
            <a:r>
              <a:rPr sz="975" b="1">
                <a:solidFill>
                  <a:srgbClr val="24539A"/>
                </a:solidFill>
              </a:rPr>
              <a:t>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399FC-F61A-43CE-A5FA-A6B490B8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B70"/>
                </a:solidFill>
              </a:defRPr>
            </a:pPr>
            <a:r>
              <a:rPr sz="2550" b="1">
                <a:solidFill>
                  <a:srgbClr val="183B70"/>
                </a:solidFill>
              </a:rPr>
              <a:t>Project objectives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A76AB-D810-4B15-ADB3-B72B36B7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DA4D4-7AAC-4403-9C6C-A1EF79A2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27A"/>
                </a:solidFill>
              </a:defRPr>
            </a:pPr>
            <a:r>
              <a:rPr sz="900" b="1">
                <a:solidFill>
                  <a:srgbClr val="52627A"/>
                </a:solidFill>
              </a:rPr>
              <a:t>SAPPT ·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68DB6-979D-4B09-8497-50DDDA03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147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EEF4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B2375-A3B7-4049-8ED9-B47D2609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70"/>
                </a:solidFill>
              </a:defRPr>
            </a:pPr>
            <a:r>
              <a:rPr sz="1800" b="1">
                <a:solidFill>
                  <a:srgbClr val="183B70"/>
                </a:solidFill>
              </a:rPr>
              <a:t>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8BC71-011F-4248-BA92-A2205A9F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57525"/>
            <a:ext cx="438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65959-6B96-4D91-839F-639610B3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A"/>
                </a:solidFill>
              </a:defRPr>
            </a:pPr>
            <a:r>
              <a:rPr sz="1350" b="0">
                <a:solidFill>
                  <a:srgbClr val="52627A"/>
                </a:solidFill>
              </a:rPr>
              <a:t>Analyze subject-wise performance to identify weak areas and subjects needing improvement.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68205-4FB9-4C11-A945-21D0FC83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76450"/>
            <a:ext cx="33147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EEF4F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71C09-8EBB-4DF8-A6C9-902C6927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70"/>
                </a:solidFill>
              </a:defRPr>
            </a:pPr>
            <a:r>
              <a:rPr sz="1800" b="1">
                <a:solidFill>
                  <a:srgbClr val="183B70"/>
                </a:solidFill>
              </a:rPr>
              <a:t>Schedule &amp; exam management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81A5B-0BB2-49B8-9242-173B1154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57525"/>
            <a:ext cx="438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DBD98-2F02-46C0-B95B-BCA9DE2E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A"/>
                </a:solidFill>
              </a:defRPr>
            </a:pPr>
            <a:r>
              <a:rPr sz="1350" b="0">
                <a:solidFill>
                  <a:srgbClr val="52627A"/>
                </a:solidFill>
              </a:rPr>
              <a:t>Manage study timetables and track upcoming exam dates so students stay organized.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AA3B5-A717-4AA8-9D00-8D7930E8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33147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EEF4F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9FD3FD-48A2-4B3D-B160-D320D02C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70"/>
                </a:solidFill>
              </a:defRPr>
            </a:pPr>
            <a:r>
              <a:rPr sz="1800" b="1">
                <a:solidFill>
                  <a:srgbClr val="183B70"/>
                </a:solidFill>
              </a:rPr>
              <a:t>Improvement &amp; timer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6907A1-D29B-4F45-9D9A-FAC2A423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57525"/>
            <a:ext cx="438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03316-FEB6-4890-A6A1-6C6881F4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24225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A"/>
                </a:solidFill>
              </a:defRPr>
            </a:pPr>
            <a:r>
              <a:rPr sz="1350" b="0">
                <a:solidFill>
                  <a:srgbClr val="52627A"/>
                </a:solidFill>
              </a:rPr>
              <a:t>Provide improvement suggestions and a built-in study timer to support time management.</a:t>
            </a:r>
          </a:p>
        </p:txBody>
      </p:sp>
    </p:spTree>
    <p:extLst>
      <p:ext uri="{BB962C8B-B14F-4D97-AF65-F5344CB8AC3E}">
        <p14:creationId xmlns:p14="http://schemas.microsoft.com/office/powerpoint/2010/main" val="16905442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FEDFCD-43F7-405B-A3C0-FBC4EDC3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83B70"/>
          </a:solidFill>
          <a:ln xmlns:a="http://schemas.openxmlformats.org/drawingml/2006/main" w="0">
            <a:solidFill>
              <a:srgbClr val="18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14B19-C469-4ABB-87C1-35B3E18A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39A"/>
                </a:solidFill>
              </a:defRPr>
            </a:pPr>
            <a:r>
              <a:rPr sz="975" b="1">
                <a:solidFill>
                  <a:srgbClr val="24539A"/>
                </a:solidFill>
              </a:rPr>
              <a:t>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D79C0-2E2E-4E5F-BB72-DDA6095A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B70"/>
                </a:solidFill>
              </a:defRPr>
            </a:pPr>
            <a:r>
              <a:rPr sz="2550" b="1">
                <a:solidFill>
                  <a:srgbClr val="183B70"/>
                </a:solidFill>
              </a:rPr>
              <a:t>Scope of the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89AB3-7628-4E86-867A-5AFAE58C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AB5E0-5442-45B9-A4DB-3A0FE4CA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27A"/>
                </a:solidFill>
              </a:defRPr>
            </a:pPr>
            <a:r>
              <a:rPr sz="900" b="1">
                <a:solidFill>
                  <a:srgbClr val="52627A"/>
                </a:solidFill>
              </a:rPr>
              <a:t>SAPPT ·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72DE9-15EE-45BC-8FF1-4322AB47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43A"/>
                </a:solidFill>
              </a:defRPr>
            </a:pPr>
            <a:r>
              <a:rPr sz="1875" b="0">
                <a:solidFill>
                  <a:srgbClr val="17243A"/>
                </a:solidFill>
              </a:rPr>
              <a:t>SAPPT is designed as a web-based academic monitoring application for two core user groups.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17E7E-CFEA-4087-A35E-E8E53918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048250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EEF4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46640-0718-4EC8-84BB-41DECBAB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B70"/>
                </a:solidFill>
              </a:defRPr>
            </a:pPr>
            <a:r>
              <a:rPr sz="2100" b="1">
                <a:solidFill>
                  <a:srgbClr val="183B70"/>
                </a:solidFill>
              </a:rPr>
              <a:t>Students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A08F3-A1E0-4837-B706-FFFBF17E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5A989-0D3B-43F6-BEE5-5A16795D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2425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3A"/>
                </a:solidFill>
              </a:defRPr>
            </a:pPr>
            <a:r>
              <a:rPr sz="1425" b="0">
                <a:solidFill>
                  <a:srgbClr val="17243A"/>
                </a:solidFill>
              </a:rPr>
              <a:t>Access academic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D0AB5-8B44-4A90-A10F-8D6F26FD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4DF62-1D98-42BB-BE5E-A2A4765A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0525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3A"/>
                </a:solidFill>
              </a:defRPr>
            </a:pPr>
            <a:r>
              <a:rPr sz="1425" b="0">
                <a:solidFill>
                  <a:srgbClr val="17243A"/>
                </a:solidFill>
              </a:rPr>
              <a:t>Plan study schedules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C8F862-3C60-4107-86ED-0B576A55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E787D5-B9ED-4439-A188-445CE899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8625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3A"/>
                </a:solidFill>
              </a:defRPr>
            </a:pPr>
            <a:r>
              <a:rPr sz="1425" b="0">
                <a:solidFill>
                  <a:srgbClr val="17243A"/>
                </a:solidFill>
              </a:rPr>
              <a:t>Track upcoming exams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F2824-68FC-42C6-951D-5CF57BEA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1CF529-E588-48C5-A0D9-B216847E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3A"/>
                </a:solidFill>
              </a:defRPr>
            </a:pPr>
            <a:r>
              <a:rPr sz="1425" b="0">
                <a:solidFill>
                  <a:srgbClr val="17243A"/>
                </a:solidFill>
              </a:rPr>
              <a:t>Use the study timer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B17903-68F9-49F4-9B8A-4F36B20F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71750"/>
            <a:ext cx="5048250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183B70"/>
          </a:solidFill>
          <a:ln xmlns:a="http://schemas.openxmlformats.org/drawingml/2006/main" w="0">
            <a:solidFill>
              <a:srgbClr val="183B7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390E29-83B3-4A66-B5C4-76313E6E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52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Administrators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D93CF1-5347-47DB-BEB0-F8EDBDC9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0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475EA9-382C-40D2-8242-B61923A0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2425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3A"/>
                </a:solidFill>
              </a:defRPr>
            </a:pPr>
            <a:r>
              <a:rPr sz="1425" b="0">
                <a:solidFill>
                  <a:srgbClr val="17243A"/>
                </a:solidFill>
              </a:rPr>
              <a:t>Add and update student records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FEDE65-21C8-4F5A-9807-6CFD0698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57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3E9FFF-31C3-42AD-9971-ADF41E0C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8145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3A"/>
                </a:solidFill>
              </a:defRPr>
            </a:pPr>
            <a:r>
              <a:rPr sz="1425" b="0">
                <a:solidFill>
                  <a:srgbClr val="17243A"/>
                </a:solidFill>
              </a:rPr>
              <a:t>Manage schedules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9C32A6-F2D5-4F4F-911F-F1861684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14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850317-4FF4-4EA8-8151-4A3087F4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3865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3A"/>
                </a:solidFill>
              </a:defRPr>
            </a:pPr>
            <a:r>
              <a:rPr sz="1425" b="0">
                <a:solidFill>
                  <a:srgbClr val="17243A"/>
                </a:solidFill>
              </a:rPr>
              <a:t>Maintain exam dates</a:t>
            </a:r>
          </a:p>
        </p:txBody>
      </p:sp>
    </p:spTree>
    <p:extLst>
      <p:ext uri="{BB962C8B-B14F-4D97-AF65-F5344CB8AC3E}">
        <p14:creationId xmlns:p14="http://schemas.microsoft.com/office/powerpoint/2010/main" val="16425379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4496A7-95B0-4477-B6EE-D3CDB297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83B70"/>
          </a:solidFill>
          <a:ln xmlns:a="http://schemas.openxmlformats.org/drawingml/2006/main" w="0">
            <a:solidFill>
              <a:srgbClr val="18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D9149-9A45-47F5-B448-86633C8E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39A"/>
                </a:solidFill>
              </a:defRPr>
            </a:pPr>
            <a:r>
              <a:rPr sz="975" b="1">
                <a:solidFill>
                  <a:srgbClr val="24539A"/>
                </a:solidFill>
              </a:rPr>
              <a:t>USERS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101F2-7DCD-46A6-9BFB-2F3B0D74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B70"/>
                </a:solidFill>
              </a:defRPr>
            </a:pPr>
            <a:r>
              <a:rPr sz="2550" b="1">
                <a:solidFill>
                  <a:srgbClr val="183B70"/>
                </a:solidFill>
              </a:rPr>
              <a:t>Users and responsibilities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1F983-17AC-4C46-A16A-6E175316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A7E8A-355F-49A1-BC50-061F6EF9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27A"/>
                </a:solidFill>
              </a:defRPr>
            </a:pPr>
            <a:r>
              <a:rPr sz="900" b="1">
                <a:solidFill>
                  <a:srgbClr val="52627A"/>
                </a:solidFill>
              </a:rPr>
              <a:t>SAPPT ·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47DDA-AB20-43BF-B976-9821D6DE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0482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EEF4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3D5E2-6822-49FB-BC5E-70792925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B70"/>
                </a:solidFill>
              </a:defRPr>
            </a:pPr>
            <a:r>
              <a:rPr sz="2100" b="1">
                <a:solidFill>
                  <a:srgbClr val="183B70"/>
                </a:solidFill>
              </a:rPr>
              <a:t>Student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C26D4-CF5E-4627-8918-E448FC84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4095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27A"/>
                </a:solidFill>
              </a:defRPr>
            </a:pPr>
            <a:r>
              <a:rPr sz="1650" b="0">
                <a:solidFill>
                  <a:srgbClr val="52627A"/>
                </a:solidFill>
              </a:rPr>
              <a:t>Uses SAPPT to review academic information, track performance, plan study schedules, follow exam dates and use the study timer.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40C97-DBA9-4421-8495-B0564708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24050"/>
            <a:ext cx="50482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83B70"/>
          </a:solidFill>
          <a:ln xmlns:a="http://schemas.openxmlformats.org/drawingml/2006/main" w="0">
            <a:solidFill>
              <a:srgbClr val="183B7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1C89C-EB38-430D-92DF-C2624797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241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Administrator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D16F0-27ED-4E66-B1E9-6E231546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00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CE8FB"/>
                </a:solidFill>
              </a:defRPr>
            </a:pPr>
            <a:r>
              <a:rPr sz="1650" b="0">
                <a:solidFill>
                  <a:srgbClr val="DCE8FB"/>
                </a:solidFill>
              </a:rPr>
              <a:t>Maintains student records and helps keep schedules and exam dates up to date.</a:t>
            </a:r>
          </a:p>
        </p:txBody>
      </p:sp>
    </p:spTree>
    <p:extLst>
      <p:ext uri="{BB962C8B-B14F-4D97-AF65-F5344CB8AC3E}">
        <p14:creationId xmlns:p14="http://schemas.microsoft.com/office/powerpoint/2010/main" val="10425342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D3E00-5E44-4E94-A175-DEE92636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83B70"/>
          </a:solidFill>
          <a:ln xmlns:a="http://schemas.openxmlformats.org/drawingml/2006/main" w="0">
            <a:solidFill>
              <a:srgbClr val="18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979A8-1BAF-4E08-AFBC-45EE45F9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39A"/>
                </a:solidFill>
              </a:defRPr>
            </a:pPr>
            <a:r>
              <a:rPr sz="975" b="1">
                <a:solidFill>
                  <a:srgbClr val="24539A"/>
                </a:solidFill>
              </a:rPr>
              <a:t>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4EB78-9F69-4E50-B3D7-85564F5C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B70"/>
                </a:solidFill>
              </a:defRPr>
            </a:pPr>
            <a:r>
              <a:rPr sz="2550" b="1">
                <a:solidFill>
                  <a:srgbClr val="183B70"/>
                </a:solidFill>
              </a:rPr>
              <a:t>Functional requirements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1F59C-A6DD-446A-ABBE-7A497AF9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119E8-0C17-41F4-B149-5BD8CC2E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27A"/>
                </a:solidFill>
              </a:defRPr>
            </a:pPr>
            <a:r>
              <a:rPr sz="900" b="1">
                <a:solidFill>
                  <a:srgbClr val="52627A"/>
                </a:solidFill>
              </a:rPr>
              <a:t>SAPPT ·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1436D-3EC8-457A-8F23-31348DF3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147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EEF4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BE4DE-36DF-4A8C-AE14-2DD8B75A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70"/>
                </a:solidFill>
              </a:defRPr>
            </a:pPr>
            <a:r>
              <a:rPr sz="1800" b="1">
                <a:solidFill>
                  <a:srgbClr val="183B70"/>
                </a:solidFill>
              </a:rPr>
              <a:t>Student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9E3E8-A3BD-48D2-9174-B2DAB4E1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57525"/>
            <a:ext cx="438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16AE3-24AF-44C6-82D2-A62B5E5B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A"/>
                </a:solidFill>
              </a:defRPr>
            </a:pPr>
            <a:r>
              <a:rPr sz="1350" b="0">
                <a:solidFill>
                  <a:srgbClr val="52627A"/>
                </a:solidFill>
              </a:rPr>
              <a:t>Student registration and login provide access to the application.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936C9-7B11-4EFB-B86C-D0B8CB3B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76450"/>
            <a:ext cx="33147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EEF4F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CB835-5D80-43B8-BA2A-5BE676FC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70"/>
                </a:solidFill>
              </a:defRPr>
            </a:pPr>
            <a:r>
              <a:rPr sz="1800" b="1">
                <a:solidFill>
                  <a:srgbClr val="183B70"/>
                </a:solidFill>
              </a:rPr>
              <a:t>Academic management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E6E37-BAE2-4277-9DE0-B6AA127C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57525"/>
            <a:ext cx="438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233E34-652D-4FB5-B46D-F8E0D8F9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A"/>
                </a:solidFill>
              </a:defRPr>
            </a:pPr>
            <a:r>
              <a:rPr sz="1350" b="0">
                <a:solidFill>
                  <a:srgbClr val="52627A"/>
                </a:solidFill>
              </a:rPr>
              <a:t>Academic records and performance analysis support progress tracking.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0D557-6234-4458-A48B-AA2E1D77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33147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EEF4F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FAB96-5A42-4D5B-8CD2-3ACEB75D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70"/>
                </a:solidFill>
              </a:defRPr>
            </a:pPr>
            <a:r>
              <a:rPr sz="1800" b="1">
                <a:solidFill>
                  <a:srgbClr val="183B70"/>
                </a:solidFill>
              </a:rPr>
              <a:t>Planning support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7305B-EFD5-4174-98E7-05E43488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57525"/>
            <a:ext cx="438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30D2DE-030E-44D2-A244-25D6CA15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24225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A"/>
                </a:solidFill>
              </a:defRPr>
            </a:pPr>
            <a:r>
              <a:rPr sz="1350" b="0">
                <a:solidFill>
                  <a:srgbClr val="52627A"/>
                </a:solidFill>
              </a:rPr>
              <a:t>Timetable, exam management and the study timer support preparation.</a:t>
            </a:r>
          </a:p>
        </p:txBody>
      </p:sp>
    </p:spTree>
    <p:extLst>
      <p:ext uri="{BB962C8B-B14F-4D97-AF65-F5344CB8AC3E}">
        <p14:creationId xmlns:p14="http://schemas.microsoft.com/office/powerpoint/2010/main" val="14723018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DBE19F-468B-4D4D-957E-41A06E45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83B70"/>
          </a:solidFill>
          <a:ln xmlns:a="http://schemas.openxmlformats.org/drawingml/2006/main" w="0">
            <a:solidFill>
              <a:srgbClr val="18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9B805-50CC-4D01-94ED-BADAB718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39A"/>
                </a:solidFill>
              </a:defRPr>
            </a:pPr>
            <a:r>
              <a:rPr sz="975" b="1">
                <a:solidFill>
                  <a:srgbClr val="24539A"/>
                </a:solidFill>
              </a:rPr>
              <a:t>MODULES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B6D71-0CA3-4700-9037-7FDACF88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B70"/>
                </a:solidFill>
              </a:defRPr>
            </a:pPr>
            <a:r>
              <a:rPr sz="2550" b="1">
                <a:solidFill>
                  <a:srgbClr val="183B70"/>
                </a:solidFill>
              </a:rPr>
              <a:t>System modules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F91D3-D8B5-4D67-AD43-1FA0A4ED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1E352-EC8E-41D4-87CF-ACF16F96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27A"/>
                </a:solidFill>
              </a:defRPr>
            </a:pPr>
            <a:r>
              <a:rPr sz="900" b="1">
                <a:solidFill>
                  <a:srgbClr val="52627A"/>
                </a:solidFill>
              </a:rPr>
              <a:t>SAPPT ·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727A4-9AAA-4B44-8B18-278FA28B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43A"/>
                </a:solidFill>
              </a:defRPr>
            </a:pPr>
            <a:r>
              <a:rPr sz="1800" b="0">
                <a:solidFill>
                  <a:srgbClr val="17243A"/>
                </a:solidFill>
              </a:rPr>
              <a:t>The project is organized around seven practical modules.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D56F3-324B-4CD5-A1EC-1FE208F9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539A"/>
          </a:solidFill>
          <a:ln xmlns:a="http://schemas.openxmlformats.org/drawingml/2006/main" w="0">
            <a:solidFill>
              <a:srgbClr val="24539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9387B-EF7B-4A46-A124-FFE61B53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75D32-160B-4CDD-BAFA-4DF86E32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38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</a:defRPr>
            </a:pPr>
            <a:r>
              <a:rPr sz="1650" b="1">
                <a:solidFill>
                  <a:srgbClr val="17243A"/>
                </a:solidFill>
              </a:rPr>
              <a:t>Student Registration &amp; Login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8EA0D-3AD6-4E75-88BF-2316878E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539A"/>
          </a:solidFill>
          <a:ln xmlns:a="http://schemas.openxmlformats.org/drawingml/2006/main" w="0">
            <a:solidFill>
              <a:srgbClr val="2453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59F8FC-56FF-42A0-87BE-95491F17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975DF-1451-409B-A340-ADCE42D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05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</a:defRPr>
            </a:pPr>
            <a:r>
              <a:rPr sz="1650" b="1">
                <a:solidFill>
                  <a:srgbClr val="17243A"/>
                </a:solidFill>
              </a:rPr>
              <a:t>Academic Record Management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77BF6-C490-4F22-BC2D-2EC1644A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539A"/>
          </a:solidFill>
          <a:ln xmlns:a="http://schemas.openxmlformats.org/drawingml/2006/main" w="0">
            <a:solidFill>
              <a:srgbClr val="2453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1FE3F-5BD2-40BC-997C-64FC5536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EB54B-034A-447C-9444-F967AB62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71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</a:defRPr>
            </a:pPr>
            <a:r>
              <a:rPr sz="1650" b="1">
                <a:solidFill>
                  <a:srgbClr val="17243A"/>
                </a:solidFill>
              </a:rPr>
              <a:t>Performance Analysis Module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84947-FF59-47B9-8C70-445AD025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539A"/>
          </a:solidFill>
          <a:ln xmlns:a="http://schemas.openxmlformats.org/drawingml/2006/main" w="0">
            <a:solidFill>
              <a:srgbClr val="24539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719E3B-6723-4F8A-A02D-01CD4FAF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0CBBD3-B670-434D-8945-B9E4F6A9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386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</a:defRPr>
            </a:pPr>
            <a:r>
              <a:rPr sz="1650" b="1">
                <a:solidFill>
                  <a:srgbClr val="17243A"/>
                </a:solidFill>
              </a:rPr>
              <a:t>Improvement Suggestions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E83DB-189C-47EC-863C-9C59D002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539A"/>
          </a:solidFill>
          <a:ln xmlns:a="http://schemas.openxmlformats.org/drawingml/2006/main" w="0">
            <a:solidFill>
              <a:srgbClr val="24539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73C64B-775A-42DB-89B0-4DCDE7CF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574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DDDF2C-F653-4F90-833B-6B2A019E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38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</a:defRPr>
            </a:pPr>
            <a:r>
              <a:rPr sz="1650" b="1">
                <a:solidFill>
                  <a:srgbClr val="17243A"/>
                </a:solidFill>
              </a:rPr>
              <a:t>Timetable &amp; Schedule Manager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D7476-30A7-4199-8642-010F6A9A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480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539A"/>
          </a:solidFill>
          <a:ln xmlns:a="http://schemas.openxmlformats.org/drawingml/2006/main" w="0">
            <a:solidFill>
              <a:srgbClr val="24539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803C17-127A-41A8-84F6-925E1EE1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24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71D81A-A1CF-4D5C-AD35-0362583C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</a:defRPr>
            </a:pPr>
            <a:r>
              <a:rPr sz="1650" b="1">
                <a:solidFill>
                  <a:srgbClr val="17243A"/>
                </a:solidFill>
              </a:rPr>
              <a:t>Exam Management Module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443F9C-7315-4581-AA56-045132C8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47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539A"/>
          </a:solidFill>
          <a:ln xmlns:a="http://schemas.openxmlformats.org/drawingml/2006/main" w="0">
            <a:solidFill>
              <a:srgbClr val="24539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8A8171-662E-411A-A0A8-2F72CF5A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90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854A08-C0F2-41AD-B142-7CE25CA4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71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</a:defRPr>
            </a:pPr>
            <a:r>
              <a:rPr sz="1650" b="1">
                <a:solidFill>
                  <a:srgbClr val="17243A"/>
                </a:solidFill>
              </a:rPr>
              <a:t>Study Timer Feature</a:t>
            </a:r>
          </a:p>
        </p:txBody>
      </p:sp>
    </p:spTree>
    <p:extLst>
      <p:ext uri="{BB962C8B-B14F-4D97-AF65-F5344CB8AC3E}">
        <p14:creationId xmlns:p14="http://schemas.microsoft.com/office/powerpoint/2010/main" val="13539859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5303C4-4258-4E40-8BAF-8772D1DC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83B70"/>
          </a:solidFill>
          <a:ln xmlns:a="http://schemas.openxmlformats.org/drawingml/2006/main" w="0">
            <a:solidFill>
              <a:srgbClr val="18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7D621-4356-4285-AD19-23CC7514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39A"/>
                </a:solidFill>
              </a:defRPr>
            </a:pPr>
            <a:r>
              <a:rPr sz="975" b="1">
                <a:solidFill>
                  <a:srgbClr val="24539A"/>
                </a:solidFill>
              </a:rPr>
              <a:t>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2A1D4-694E-4793-9D61-A15EB587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B70"/>
                </a:solidFill>
              </a:defRPr>
            </a:pPr>
            <a:r>
              <a:rPr sz="2550" b="1">
                <a:solidFill>
                  <a:srgbClr val="183B70"/>
                </a:solidFill>
              </a:rPr>
              <a:t>Non-functional requirements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CC219-2767-4C1A-8407-D031F885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17FB1-ADF3-475C-938D-2EE0D848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27A"/>
                </a:solidFill>
              </a:defRPr>
            </a:pPr>
            <a:r>
              <a:rPr sz="900" b="1">
                <a:solidFill>
                  <a:srgbClr val="52627A"/>
                </a:solidFill>
              </a:rPr>
              <a:t>SAPPT ·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03B43-8B95-4E1C-87D1-81838B2E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147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EEF4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8F132-FB2E-4940-B225-9E88ABB5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70"/>
                </a:solidFill>
              </a:defRPr>
            </a:pPr>
            <a:r>
              <a:rPr sz="1800" b="1">
                <a:solidFill>
                  <a:srgbClr val="183B70"/>
                </a:solidFill>
              </a:rPr>
              <a:t>Performance &amp; speed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B25EA-75E9-4DE0-91FF-92DDA157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57525"/>
            <a:ext cx="438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1099C-8B06-4839-9F31-C6333D23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A"/>
                </a:solidFill>
              </a:defRPr>
            </a:pPr>
            <a:r>
              <a:rPr sz="1350" b="0">
                <a:solidFill>
                  <a:srgbClr val="52627A"/>
                </a:solidFill>
              </a:rPr>
              <a:t>Pages should load quickly and process academic data without unnecessary delay.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20574-0EEE-475D-8842-3B23A05D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76450"/>
            <a:ext cx="33147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EEF4F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ED407-4EEC-4D1B-8AF1-2C9EB37A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70"/>
                </a:solidFill>
              </a:defRPr>
            </a:pPr>
            <a:r>
              <a:rPr sz="1800" b="1">
                <a:solidFill>
                  <a:srgbClr val="183B70"/>
                </a:solidFill>
              </a:rPr>
              <a:t>Security &amp; reliability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01517-86BF-4554-938A-D5A78747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57525"/>
            <a:ext cx="438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D7DC2-4294-41CD-9E76-AE111265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A"/>
                </a:solidFill>
              </a:defRPr>
            </a:pPr>
            <a:r>
              <a:rPr sz="1350" b="0">
                <a:solidFill>
                  <a:srgbClr val="52627A"/>
                </a:solidFill>
              </a:rPr>
              <a:t>Student records and academic data should be stored securely, with attention to uptime and data loss prevention.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69D5D3-03A4-498E-9129-57CFC3E4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33147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EEF4F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E7E87-17AA-4BD3-B11A-051FD675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70"/>
                </a:solidFill>
              </a:defRPr>
            </a:pPr>
            <a:r>
              <a:rPr sz="1800" b="1">
                <a:solidFill>
                  <a:srgbClr val="183B70"/>
                </a:solidFill>
              </a:rPr>
              <a:t>Usability &amp; 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5C5BE8-35F6-446A-AFCC-744AB71E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57525"/>
            <a:ext cx="438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1AEB7B-A23E-457B-8B64-2B34CCAE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24225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A"/>
                </a:solidFill>
              </a:defRPr>
            </a:pPr>
            <a:r>
              <a:rPr sz="1350" b="0">
                <a:solidFill>
                  <a:srgbClr val="52627A"/>
                </a:solidFill>
              </a:rPr>
              <a:t>The interface should be simple, intuitive and easy for students and administrators to use.</a:t>
            </a:r>
          </a:p>
        </p:txBody>
      </p:sp>
    </p:spTree>
    <p:extLst>
      <p:ext uri="{BB962C8B-B14F-4D97-AF65-F5344CB8AC3E}">
        <p14:creationId xmlns:p14="http://schemas.microsoft.com/office/powerpoint/2010/main" val="12105417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B89FF-07F3-462E-9697-7DE900D8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83B70"/>
          </a:solidFill>
          <a:ln xmlns:a="http://schemas.openxmlformats.org/drawingml/2006/main" w="0">
            <a:solidFill>
              <a:srgbClr val="18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8B9CC-1D36-467C-AFA3-4DBB37EE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39A"/>
                </a:solidFill>
              </a:defRPr>
            </a:pPr>
            <a:r>
              <a:rPr sz="975" b="1">
                <a:solidFill>
                  <a:srgbClr val="24539A"/>
                </a:solidFill>
              </a:rPr>
              <a:t>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CAA15-69C0-4EAA-97EF-173C2724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B70"/>
                </a:solidFill>
              </a:defRPr>
            </a:pPr>
            <a:r>
              <a:rPr sz="2550" b="1">
                <a:solidFill>
                  <a:srgbClr val="183B70"/>
                </a:solidFill>
              </a:rPr>
              <a:t>Expected 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D846E-DB18-4928-8315-958ED81D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3CA90-00DE-4287-B61E-2BD63DC4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27A"/>
                </a:solidFill>
              </a:defRPr>
            </a:pPr>
            <a:r>
              <a:rPr sz="900" b="1">
                <a:solidFill>
                  <a:srgbClr val="52627A"/>
                </a:solidFill>
              </a:rPr>
              <a:t>SAPPT ·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651CB-847B-49A5-B5DE-D90DFBB7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43A"/>
                </a:solidFill>
              </a:defRPr>
            </a:pPr>
            <a:r>
              <a:rPr sz="1875" b="0">
                <a:solidFill>
                  <a:srgbClr val="17243A"/>
                </a:solidFill>
              </a:rPr>
              <a:t>SAPPT brings the project features together in a single academic-monitoring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A0C31-D62C-4DA3-9100-7E128DF3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EEF4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A37DD-1412-4021-B42B-7538795D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70"/>
                </a:solidFill>
              </a:defRPr>
            </a:pPr>
            <a:r>
              <a:rPr sz="1725" b="1">
                <a:solidFill>
                  <a:srgbClr val="183B70"/>
                </a:solidFill>
              </a:rPr>
              <a:t>Student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9F7D4-B81A-4143-AD62-E419B148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70"/>
                </a:solidFill>
              </a:defRPr>
            </a:pPr>
            <a:r>
              <a:rPr sz="1725" b="1">
                <a:solidFill>
                  <a:srgbClr val="183B70"/>
                </a:solidFill>
              </a:rPr>
              <a:t>Performance 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6FDAF-A03C-4B4C-9483-701E6BF6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67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70"/>
                </a:solidFill>
              </a:defRPr>
            </a:pPr>
            <a:r>
              <a:rPr sz="1725" b="1">
                <a:solidFill>
                  <a:srgbClr val="183B70"/>
                </a:solidFill>
              </a:rPr>
              <a:t>Schedule &amp; exams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1D2B2-6FCC-4763-823B-002090AF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67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70"/>
                </a:solidFill>
              </a:defRPr>
            </a:pPr>
            <a:r>
              <a:rPr sz="1725" b="1">
                <a:solidFill>
                  <a:srgbClr val="183B70"/>
                </a:solidFill>
              </a:rPr>
              <a:t>Study timer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D3D1D-D4B1-48D3-9A16-0329FC68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A"/>
                </a:solidFill>
              </a:defRPr>
            </a:pPr>
            <a:r>
              <a:rPr sz="1350" b="0">
                <a:solidFill>
                  <a:srgbClr val="52627A"/>
                </a:solidFill>
              </a:rPr>
              <a:t>Organized academic information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61459-988F-4A71-8453-1CEDB62E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2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A"/>
                </a:solidFill>
              </a:defRPr>
            </a:pPr>
            <a:r>
              <a:rPr sz="1350" b="0">
                <a:solidFill>
                  <a:srgbClr val="52627A"/>
                </a:solidFill>
              </a:rPr>
              <a:t>Subject-wise tracking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D3E7A-D4AB-4E8F-A87E-E9017DB2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62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A"/>
                </a:solidFill>
              </a:defRPr>
            </a:pPr>
            <a:r>
              <a:rPr sz="1350" b="0">
                <a:solidFill>
                  <a:srgbClr val="52627A"/>
                </a:solidFill>
              </a:rPr>
              <a:t>Better preparation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AC688-4A0F-4DCE-A4A0-CD372D6B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62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A"/>
                </a:solidFill>
              </a:defRPr>
            </a:pPr>
            <a:r>
              <a:rPr sz="1350" b="0">
                <a:solidFill>
                  <a:srgbClr val="52627A"/>
                </a:solidFill>
              </a:rPr>
              <a:t>Time management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DE83A3-BD36-4EFD-BB9A-837C05DE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43A"/>
                </a:solidFill>
              </a:defRPr>
            </a:pPr>
            <a:r>
              <a:rPr sz="1725" b="0">
                <a:solidFill>
                  <a:srgbClr val="17243A"/>
                </a:solidFill>
              </a:rPr>
              <a:t>The intended result is a clearer view of academic progress and practical support for study planning.</a:t>
            </a:r>
          </a:p>
        </p:txBody>
      </p:sp>
    </p:spTree>
    <p:extLst>
      <p:ext uri="{BB962C8B-B14F-4D97-AF65-F5344CB8AC3E}">
        <p14:creationId xmlns:p14="http://schemas.microsoft.com/office/powerpoint/2010/main" val="2622162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7DED85-34DC-4578-88EB-EC1602FB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83B70"/>
          </a:solidFill>
          <a:ln xmlns:a="http://schemas.openxmlformats.org/drawingml/2006/main" w="0">
            <a:solidFill>
              <a:srgbClr val="18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CA81B-1C2A-4DB0-9F18-24FEFA02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39A"/>
                </a:solidFill>
              </a:defRPr>
            </a:pPr>
            <a:r>
              <a:rPr sz="975" b="1">
                <a:solidFill>
                  <a:srgbClr val="24539A"/>
                </a:solidFill>
              </a:rPr>
              <a:t>ADVANTAGES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0EADD-64A0-4240-A540-5E596581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B70"/>
                </a:solidFill>
              </a:defRPr>
            </a:pPr>
            <a:r>
              <a:rPr sz="2550" b="1">
                <a:solidFill>
                  <a:srgbClr val="183B70"/>
                </a:solidFill>
              </a:rPr>
              <a:t>Benefits of SAPPT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52838-CBAF-46FD-98BB-9C1AE22B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8F38D-AF53-41CE-BCDC-BB0F56BD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27A"/>
                </a:solidFill>
              </a:defRPr>
            </a:pPr>
            <a:r>
              <a:rPr sz="900" b="1">
                <a:solidFill>
                  <a:srgbClr val="52627A"/>
                </a:solidFill>
              </a:rPr>
              <a:t>SAPPT ·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8326E-572C-46C6-9C61-BE31DBBA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147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EEF4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15BFA-07C6-4DA4-A101-78C794A8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70"/>
                </a:solidFill>
              </a:defRPr>
            </a:pPr>
            <a:r>
              <a:rPr sz="1800" b="1">
                <a:solidFill>
                  <a:srgbClr val="183B70"/>
                </a:solidFill>
              </a:rPr>
              <a:t>Better visibility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AC220-B18D-409A-A2EB-3AFFDCD0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57525"/>
            <a:ext cx="438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7995F-2439-46BB-A090-FD676525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A"/>
                </a:solidFill>
              </a:defRPr>
            </a:pPr>
            <a:r>
              <a:rPr sz="1350" b="0">
                <a:solidFill>
                  <a:srgbClr val="52627A"/>
                </a:solidFill>
              </a:rPr>
              <a:t>Students can review academic information and identify areas that need attention.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46A48-2A99-42A5-ACDC-B4A73504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76450"/>
            <a:ext cx="33147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EEF4F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7D4EC-C0FF-4351-B316-BCBFFE39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70"/>
                </a:solidFill>
              </a:defRPr>
            </a:pPr>
            <a:r>
              <a:rPr sz="1800" b="1">
                <a:solidFill>
                  <a:srgbClr val="183B70"/>
                </a:solidFill>
              </a:rPr>
              <a:t>Improved planning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BD265-B345-41B2-B6ED-812086CA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57525"/>
            <a:ext cx="438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65FDB-66E6-47CF-BFDD-71E3767A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A"/>
                </a:solidFill>
              </a:defRPr>
            </a:pPr>
            <a:r>
              <a:rPr sz="1350" b="0">
                <a:solidFill>
                  <a:srgbClr val="52627A"/>
                </a:solidFill>
              </a:rPr>
              <a:t>Schedules, exam dates and the study timer support organized preparation.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D1303-2867-4706-90D6-6874FF82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33147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EEF4F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A7D42-31FB-4CF1-91F7-67A9BCDD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70"/>
                </a:solidFill>
              </a:defRPr>
            </a:pPr>
            <a:r>
              <a:rPr sz="1800" b="1">
                <a:solidFill>
                  <a:srgbClr val="183B70"/>
                </a:solidFill>
              </a:rPr>
              <a:t>Useful administration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1DD552-D44E-4BBF-8DCD-0A1C9A30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57525"/>
            <a:ext cx="438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1EABA5-336B-4158-B594-FB2B22D9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24225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A"/>
                </a:solidFill>
              </a:defRPr>
            </a:pPr>
            <a:r>
              <a:rPr sz="1350" b="0">
                <a:solidFill>
                  <a:srgbClr val="52627A"/>
                </a:solidFill>
              </a:rPr>
              <a:t>Administrators can maintain records, schedules and exam information in one system.</a:t>
            </a:r>
          </a:p>
        </p:txBody>
      </p:sp>
    </p:spTree>
    <p:extLst>
      <p:ext uri="{BB962C8B-B14F-4D97-AF65-F5344CB8AC3E}">
        <p14:creationId xmlns:p14="http://schemas.microsoft.com/office/powerpoint/2010/main" val="9420797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F956EB-94AD-43D1-A8FB-110228EC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83B70"/>
          </a:solidFill>
          <a:ln xmlns:a="http://schemas.openxmlformats.org/drawingml/2006/main" w="0">
            <a:solidFill>
              <a:srgbClr val="18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226A7-1856-43FC-A8BE-E32FCB00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39A"/>
                </a:solidFill>
              </a:defRPr>
            </a:pPr>
            <a:r>
              <a:rPr sz="975" b="1">
                <a:solidFill>
                  <a:srgbClr val="24539A"/>
                </a:solidFill>
              </a:rPr>
              <a:t>WORKING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F742E-8913-4F75-A8BA-88AB3F50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B70"/>
                </a:solidFill>
              </a:defRPr>
            </a:pPr>
            <a:r>
              <a:rPr sz="2550" b="1">
                <a:solidFill>
                  <a:srgbClr val="183B70"/>
                </a:solidFill>
              </a:rPr>
              <a:t>Project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33CE3-B068-4E5E-B438-97448537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09E35-2024-4CEC-8C54-97766C5B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27A"/>
                </a:solidFill>
              </a:defRPr>
            </a:pPr>
            <a:r>
              <a:rPr sz="900" b="1">
                <a:solidFill>
                  <a:srgbClr val="52627A"/>
                </a:solidFill>
              </a:rPr>
              <a:t>SAPPT ·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12019-FCF3-4AD2-ABE1-118BA3DA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714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EEF4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7C382-322A-41CD-89A9-21A6EEB1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39A"/>
                </a:solidFill>
              </a:defRPr>
            </a:pPr>
            <a:r>
              <a:rPr sz="1800" b="1">
                <a:solidFill>
                  <a:srgbClr val="24539A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82431-3214-4DF3-BAA6-F9F14AFA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3A"/>
                </a:solidFill>
              </a:defRPr>
            </a:pPr>
            <a:r>
              <a:rPr sz="1350" b="1">
                <a:solidFill>
                  <a:srgbClr val="17243A"/>
                </a:solidFill>
              </a:rPr>
              <a:t>Register / log 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CC804-B8EC-41A0-A006-96FB05C9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095625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539A"/>
                </a:solidFill>
              </a:defRPr>
            </a:pPr>
            <a:r>
              <a:rPr sz="1950" b="1">
                <a:solidFill>
                  <a:srgbClr val="24539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B151C-1B02-4C87-9981-AB618CC8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86050"/>
            <a:ext cx="1714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EEF4F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1F216-D5E9-4129-93B3-9BE1B7B1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146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39A"/>
                </a:solidFill>
              </a:defRPr>
            </a:pPr>
            <a:r>
              <a:rPr sz="1800" b="1">
                <a:solidFill>
                  <a:srgbClr val="24539A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F78A7-2DBC-48CF-8DFB-E62CE5D0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7185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3A"/>
                </a:solidFill>
              </a:defRPr>
            </a:pPr>
            <a:r>
              <a:rPr sz="1350" b="1">
                <a:solidFill>
                  <a:srgbClr val="17243A"/>
                </a:solidFill>
              </a:rPr>
              <a:t>Manage academic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48294-D7E0-4750-963A-4B8BC051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95625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539A"/>
                </a:solidFill>
              </a:defRPr>
            </a:pPr>
            <a:r>
              <a:rPr sz="1950" b="1">
                <a:solidFill>
                  <a:srgbClr val="24539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3EEDA-2913-4806-87C0-6DC3DEE5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86050"/>
            <a:ext cx="1714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83B70"/>
          </a:solidFill>
          <a:ln xmlns:a="http://schemas.openxmlformats.org/drawingml/2006/main" w="0">
            <a:solidFill>
              <a:srgbClr val="183B7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97E30-DF53-415A-9B1E-05F963CA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146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D53C"/>
                </a:solidFill>
              </a:defRPr>
            </a:pPr>
            <a:r>
              <a:rPr sz="1800" b="1">
                <a:solidFill>
                  <a:srgbClr val="F2D53C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E935A0-1981-421F-A7CD-498FDFAB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7185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Review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D4CD7C-44AD-47E1-94D0-E518AA1F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095625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539A"/>
                </a:solidFill>
              </a:defRPr>
            </a:pPr>
            <a:r>
              <a:rPr sz="1950" b="1">
                <a:solidFill>
                  <a:srgbClr val="24539A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31083-0802-4B06-9F1E-DDA8CFAF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86050"/>
            <a:ext cx="1714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EEF4F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AD75B6-F8BA-4D8F-B788-4372E527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146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39A"/>
                </a:solidFill>
              </a:defRPr>
            </a:pPr>
            <a:r>
              <a:rPr sz="1800" b="1">
                <a:solidFill>
                  <a:srgbClr val="24539A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7EB34F-1A35-4E0D-AABE-C383A401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7185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3A"/>
                </a:solidFill>
              </a:defRPr>
            </a:pPr>
            <a:r>
              <a:rPr sz="1350" b="1">
                <a:solidFill>
                  <a:srgbClr val="17243A"/>
                </a:solidFill>
              </a:rPr>
              <a:t>Plan schedule and exams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2CF1C8-6076-4D3D-B4C0-B3C8517D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095625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539A"/>
                </a:solidFill>
              </a:defRPr>
            </a:pPr>
            <a:r>
              <a:rPr sz="1950" b="1">
                <a:solidFill>
                  <a:srgbClr val="24539A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45234E-5CEC-46B1-8903-A4033903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1714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EEF4F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ACDAF4-388F-4FD3-AA29-099782AF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146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39A"/>
                </a:solidFill>
              </a:defRPr>
            </a:pPr>
            <a:r>
              <a:rPr sz="1800" b="1">
                <a:solidFill>
                  <a:srgbClr val="24539A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7E0F85-C70A-4108-A442-9BB2CB6F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7185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3A"/>
                </a:solidFill>
              </a:defRPr>
            </a:pPr>
            <a:r>
              <a:rPr sz="1350" b="1">
                <a:solidFill>
                  <a:srgbClr val="17243A"/>
                </a:solidFill>
              </a:rPr>
              <a:t>Use suggestions and timer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FE8DE7-8730-45AC-B467-DDC633FA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27A"/>
                </a:solidFill>
              </a:defRPr>
            </a:pPr>
            <a:r>
              <a:rPr sz="1650" b="0">
                <a:solidFill>
                  <a:srgbClr val="52627A"/>
                </a:solidFill>
              </a:rPr>
              <a:t>This flow connects the source modules in a simple, diploma-project-friendly sequence.</a:t>
            </a:r>
          </a:p>
        </p:txBody>
      </p:sp>
    </p:spTree>
    <p:extLst>
      <p:ext uri="{BB962C8B-B14F-4D97-AF65-F5344CB8AC3E}">
        <p14:creationId xmlns:p14="http://schemas.microsoft.com/office/powerpoint/2010/main" val="11934909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C393EB-7919-457F-86BC-7DC4558F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83B70"/>
          </a:solidFill>
          <a:ln xmlns:a="http://schemas.openxmlformats.org/drawingml/2006/main" w="0">
            <a:solidFill>
              <a:srgbClr val="18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19F9C-A3BE-48A8-BF84-4AF85465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39A"/>
                </a:solidFill>
              </a:defRPr>
            </a:pPr>
            <a:r>
              <a:rPr sz="975" b="1">
                <a:solidFill>
                  <a:srgbClr val="24539A"/>
                </a:solidFill>
              </a:rPr>
              <a:t>FUTURE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D62EA-4F72-4F6A-A5DB-B5B5C8A0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B70"/>
                </a:solidFill>
              </a:defRPr>
            </a:pPr>
            <a:r>
              <a:rPr sz="2550" b="1">
                <a:solidFill>
                  <a:srgbClr val="183B70"/>
                </a:solidFill>
              </a:rPr>
              <a:t>Future enhancements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FB696-56D1-4728-8B71-D5480354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F54E6-B81D-40F8-9933-A3EBC487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27A"/>
                </a:solidFill>
              </a:defRPr>
            </a:pPr>
            <a:r>
              <a:rPr sz="900" b="1">
                <a:solidFill>
                  <a:srgbClr val="52627A"/>
                </a:solidFill>
              </a:rPr>
              <a:t>SAPPT ·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498CD-56AB-4A13-95D5-95760A63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147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EEF4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D75E2-108E-4BC9-97C7-B6013114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70"/>
                </a:solidFill>
              </a:defRPr>
            </a:pPr>
            <a:r>
              <a:rPr sz="1800" b="1">
                <a:solidFill>
                  <a:srgbClr val="183B70"/>
                </a:solidFill>
              </a:rPr>
              <a:t>Mobile app &amp;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62C52-92A3-47F8-BE6E-41AB6E9B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57525"/>
            <a:ext cx="438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EAB57-8F83-4877-BE32-366139E2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A"/>
                </a:solidFill>
              </a:defRPr>
            </a:pPr>
            <a:r>
              <a:rPr sz="1350" b="0">
                <a:solidFill>
                  <a:srgbClr val="52627A"/>
                </a:solidFill>
              </a:rPr>
              <a:t>Extend the platform to mobile access and explore AI-based performance prediction.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F08B7-FC1C-4218-BED4-892916A5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76450"/>
            <a:ext cx="33147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EEF4F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1AB9C-B49D-413E-8B7C-2EA22E09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70"/>
                </a:solidFill>
              </a:defRPr>
            </a:pPr>
            <a:r>
              <a:rPr sz="1800" b="1">
                <a:solidFill>
                  <a:srgbClr val="183B70"/>
                </a:solidFill>
              </a:rPr>
              <a:t>Notifications &amp; reminders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C76D9-9A44-4DA0-8A61-36B0B3E2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57525"/>
            <a:ext cx="438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96D04-3770-4706-98EA-D14C8098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A"/>
                </a:solidFill>
              </a:defRPr>
            </a:pPr>
            <a:r>
              <a:rPr sz="1350" b="0">
                <a:solidFill>
                  <a:srgbClr val="52627A"/>
                </a:solidFill>
              </a:rPr>
              <a:t>Add automated reminders for upcoming exams, study sessions and performance alerts.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99C10-CEC3-4DA9-B29B-EBE5FB56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33147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EEF4F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24A050-E649-49F4-B5E9-01608479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70"/>
                </a:solidFill>
              </a:defRPr>
            </a:pPr>
            <a:r>
              <a:rPr sz="1800" b="1">
                <a:solidFill>
                  <a:srgbClr val="183B70"/>
                </a:solidFill>
              </a:rPr>
              <a:t>Parent panel &amp; voice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29BB3-C2B6-4070-911B-584C75DE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57525"/>
            <a:ext cx="438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7920B-02C6-4C7D-BA72-AE369AAA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24225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A"/>
                </a:solidFill>
              </a:defRPr>
            </a:pPr>
            <a:r>
              <a:rPr sz="1350" b="0">
                <a:solidFill>
                  <a:srgbClr val="52627A"/>
                </a:solidFill>
              </a:rPr>
              <a:t>Explore a parent access panel and voice-assistant support for easier navigation.</a:t>
            </a:r>
          </a:p>
        </p:txBody>
      </p:sp>
    </p:spTree>
    <p:extLst>
      <p:ext uri="{BB962C8B-B14F-4D97-AF65-F5344CB8AC3E}">
        <p14:creationId xmlns:p14="http://schemas.microsoft.com/office/powerpoint/2010/main" val="9632142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982AC-71E0-4AB6-A27F-B5350168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83B70"/>
          </a:solidFill>
          <a:ln xmlns:a="http://schemas.openxmlformats.org/drawingml/2006/main" w="0">
            <a:solidFill>
              <a:srgbClr val="18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7A8C7-37B4-4AF9-96AD-218DA46F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39A"/>
                </a:solidFill>
              </a:defRPr>
            </a:pPr>
            <a:r>
              <a:rPr sz="975" b="1">
                <a:solidFill>
                  <a:srgbClr val="24539A"/>
                </a:solidFill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B3296-C3C2-49E4-B802-8923A931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B70"/>
                </a:solidFill>
              </a:defRPr>
            </a:pPr>
            <a:r>
              <a:rPr sz="2550" b="1">
                <a:solidFill>
                  <a:srgbClr val="183B70"/>
                </a:solidFill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9E175-358E-4B3F-AFAD-384F7702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724A3-F14C-4275-A62D-0781FC4B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27A"/>
                </a:solidFill>
              </a:defRPr>
            </a:pPr>
            <a:r>
              <a:rPr sz="900" b="1">
                <a:solidFill>
                  <a:srgbClr val="52627A"/>
                </a:solidFill>
              </a:rPr>
              <a:t>SAPPT ·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98185-B2F0-4690-BEAB-CEA38738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43A"/>
                </a:solidFill>
              </a:defRPr>
            </a:pPr>
            <a:r>
              <a:rPr sz="2100" b="0">
                <a:solidFill>
                  <a:srgbClr val="17243A"/>
                </a:solidFill>
              </a:rPr>
              <a:t>SAPPT is a focused academic-monitoring project that combines records, performance analysis and study planning in one web-based application.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D7E4B-1231-47BF-8BBD-3FB458F7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0820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83B70"/>
          </a:solidFill>
          <a:ln xmlns:a="http://schemas.openxmlformats.org/drawingml/2006/main" w="0">
            <a:solidFill>
              <a:srgbClr val="183B7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08A0B-32F3-49A3-AC35-7763E113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D53C"/>
                </a:solidFill>
              </a:defRPr>
            </a:pPr>
            <a:r>
              <a:rPr sz="1425" b="1">
                <a:solidFill>
                  <a:srgbClr val="F2D53C"/>
                </a:solidFill>
              </a:rPr>
              <a:t>Core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247B5-7506-4110-BC1C-B04AE528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62375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Help students track progress, identify weak areas and organize their academic preparation.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DB8BB-8ED9-4152-96A5-2190174F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27A"/>
                </a:solidFill>
              </a:defRPr>
            </a:pPr>
            <a:r>
              <a:rPr sz="1650" b="0">
                <a:solidFill>
                  <a:srgbClr val="52627A"/>
                </a:solidFill>
              </a:rPr>
              <a:t>The project remains practical in scope while creating a clear foundation for future enhancements.</a:t>
            </a:r>
          </a:p>
        </p:txBody>
      </p:sp>
    </p:spTree>
    <p:extLst>
      <p:ext uri="{BB962C8B-B14F-4D97-AF65-F5344CB8AC3E}">
        <p14:creationId xmlns:p14="http://schemas.microsoft.com/office/powerpoint/2010/main" val="11626430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83B7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22A6B-6D1C-4ECF-AF84-3A2CFCA6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FB7B6-5D72-43A1-9519-79E94543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D53C"/>
                </a:solidFill>
              </a:defRPr>
            </a:pPr>
            <a:r>
              <a:rPr sz="1050" b="1">
                <a:solidFill>
                  <a:srgbClr val="F2D53C"/>
                </a:solidFill>
              </a:rPr>
              <a:t>SAPPT V1 · Diploma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58E39-188C-48B0-96A5-DBCEEEE9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F1CFE-FF7E-421A-9E64-E97B6486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CE8FB"/>
                </a:solidFill>
              </a:defRPr>
            </a:pPr>
            <a:r>
              <a:rPr sz="1875" b="0">
                <a:solidFill>
                  <a:srgbClr val="DCE8FB"/>
                </a:solidFill>
              </a:rPr>
              <a:t>Questions and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C9C47-926A-4CEE-ABC2-A2C42C44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53C"/>
          </a:solidFill>
          <a:ln xmlns:a="http://schemas.openxmlformats.org/drawingml/2006/main" w="0">
            <a:solidFill>
              <a:srgbClr val="F2D5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496D0-5DDB-4982-8EB6-C945E367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Anuj Arun Deshmukh · Vishal Balande · Vishal Dake</a:t>
            </a:r>
          </a:p>
        </p:txBody>
      </p:sp>
    </p:spTree>
    <p:extLst>
      <p:ext uri="{BB962C8B-B14F-4D97-AF65-F5344CB8AC3E}">
        <p14:creationId xmlns:p14="http://schemas.microsoft.com/office/powerpoint/2010/main" val="14049498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2026-08-12T10:31:20.1710000Z</dcterms:created>
  <dcterms:modified xsi:type="dcterms:W3CDTF">2026-08-12T10:31:20.1710000Z</dcterms:modified>
</coreProperties>
</file>